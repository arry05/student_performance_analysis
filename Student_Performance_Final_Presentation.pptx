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68" r:id="rId4"/>
    <p:sldId id="267" r:id="rId5"/>
    <p:sldId id="266" r:id="rId6"/>
    <p:sldId id="264" r:id="rId7"/>
    <p:sldId id="263" r:id="rId8"/>
    <p:sldId id="262" r:id="rId9"/>
    <p:sldId id="259" r:id="rId10"/>
    <p:sldId id="261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3BC8D-D788-3887-8A78-573F482BD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50A5FE-95B0-3C62-C3B9-B9E747C57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8A3A7-5F9F-2CAB-35E8-38486C84B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FC77-16E0-4BAB-A1B3-C8B3EBC642D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73C23-8F85-9468-F8BF-F806DE5FE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D5992-08FC-95B0-2B41-FA176294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068C-693A-4564-BD3A-866B1DB5B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54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1306A-DB37-8F80-6932-D3469AFA3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0D848-7930-B437-96A2-24414D862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6D828-FB54-A2B3-0EEA-6030EAF9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FC77-16E0-4BAB-A1B3-C8B3EBC642D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7EE78-651E-F6AD-F5CA-0AC015F0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277E0-3C21-CB16-43F0-43BB34EE8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068C-693A-4564-BD3A-866B1DB5B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79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B8ECB-ECCA-74EF-8576-59AC9F45C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12E6A-616D-6AE1-BC34-9DFA0300E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A9AA5-815E-6E8C-6BCF-F86FD277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FC77-16E0-4BAB-A1B3-C8B3EBC642D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7B7ED-90F1-4AF5-BE6E-2215298FD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DCFC9-D322-D5A3-E735-B396E59D8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068C-693A-4564-BD3A-866B1DB5B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78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CF5CE-BE8E-577A-0623-CAD4A2AA5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ECD9E-C65D-C486-F31B-50CF37DBF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CF128-FC4C-1EE2-5921-E5EFB9288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5BD94-AFAC-18E8-674F-71D11C648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FC77-16E0-4BAB-A1B3-C8B3EBC642D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6352C-E54D-A937-2A5D-6ACF9094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0ACCD-9817-99F7-9A0B-99064AE32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068C-693A-4564-BD3A-866B1DB5B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07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8D551-2E8F-3812-1C69-D6C99A89D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DB1C2-5A46-59B9-3E76-A4CE8C8F4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6FF93-755F-F634-6CCF-D89355939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BBE61B-C312-298A-18B9-D79D792636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03C7A-366F-AB35-502A-9AE72DF4D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9917AB-80D0-DE5D-BB9E-83E5C1342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FC77-16E0-4BAB-A1B3-C8B3EBC642D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D74C27-968F-6302-9AA9-5A7FBBBB3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7B8220-4F7D-5942-FD75-49CD70848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068C-693A-4564-BD3A-866B1DB5B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42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9E2DB-7A7F-C11A-ACC5-D798B8E57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D92B3-924C-37B0-455E-BEAE2AB58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FC77-16E0-4BAB-A1B3-C8B3EBC642D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4CBEEB-EFAA-F800-CF80-83EE9B411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DC388-BB49-2779-581A-8293D9F1B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068C-693A-4564-BD3A-866B1DB5B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634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3112F7-93ED-BE6F-150E-B2916F1E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FC77-16E0-4BAB-A1B3-C8B3EBC642D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7E2B2A-71BB-D7D8-F6AC-1A5377B3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8825D-F212-AC53-1967-2A971720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068C-693A-4564-BD3A-866B1DB5B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21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BC241-D98A-01DB-2C22-7F2E52763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FBE53-A28B-4F6E-7340-77A5AF266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0A446-7150-0864-29FD-8C252E2E2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DD4FC-AB10-4150-F304-1DB18ABB5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FC77-16E0-4BAB-A1B3-C8B3EBC642D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1807F-4C67-ED13-460B-EFA536560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AC926-A3DB-0718-C698-165E5F523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068C-693A-4564-BD3A-866B1DB5B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634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92FFC-9460-DB6A-DDDF-0C8E885DB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7B8125-17F1-0363-4BA1-1042738B9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C03AA-3336-2FC9-651E-2BB598B24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A2F26-56CE-3199-91C4-0211DEBD9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FC77-16E0-4BAB-A1B3-C8B3EBC642D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C1B9B-27DC-C5EC-9FE3-61085E95C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60FA9-6452-2CDC-6CA5-1AC08869B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068C-693A-4564-BD3A-866B1DB5B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67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01054-7709-DAC1-D364-8E214BB49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88476E-AACE-DF89-0AEE-773C5ECCB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F1AC8-A416-00DF-51AF-4F92C3576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FC77-16E0-4BAB-A1B3-C8B3EBC642D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BF092-659C-D844-7DDF-1DE054FE7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1E2E9-8D41-2982-BE7D-BF9167E0D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068C-693A-4564-BD3A-866B1DB5B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0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8B59C8-1A23-9704-B265-A3E903539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E1492-C0FC-9070-045C-3E85E4226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9FE20-837E-D008-B7B3-F3B42CDE6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FC77-16E0-4BAB-A1B3-C8B3EBC642D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12B25-7ECC-1288-22A1-E9F76A287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E8D76-D2EB-08F5-06C9-188EBBC26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068C-693A-4564-BD3A-866B1DB5B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47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D4D607-171C-0D0C-D628-F57A5723D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C6046-D1C4-D45B-3F59-B06CD94CA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3CFB4-B27A-E183-43D0-0A0286A426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0FC77-16E0-4BAB-A1B3-C8B3EBC642D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41920-5845-F036-0B14-E89C5950BC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69282-9313-054C-D643-1631887A2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068C-693A-4564-BD3A-866B1DB5B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77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2D4C74-9DE0-B7B5-CBAD-9FD0AD9D844C}"/>
              </a:ext>
            </a:extLst>
          </p:cNvPr>
          <p:cNvSpPr/>
          <p:nvPr/>
        </p:nvSpPr>
        <p:spPr>
          <a:xfrm>
            <a:off x="-10274" y="6431622"/>
            <a:ext cx="12202274" cy="42637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DC15D25-92C5-E41D-4A15-75EB73CB2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126" y="5622555"/>
            <a:ext cx="2020584" cy="690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961878E-C370-2D5A-11ED-D0DFEDF756EC}"/>
              </a:ext>
            </a:extLst>
          </p:cNvPr>
          <p:cNvSpPr/>
          <p:nvPr/>
        </p:nvSpPr>
        <p:spPr>
          <a:xfrm>
            <a:off x="-10274" y="-10275"/>
            <a:ext cx="12202274" cy="220894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67FD35-D9CF-B859-77FE-D2E5AD388784}"/>
              </a:ext>
            </a:extLst>
          </p:cNvPr>
          <p:cNvSpPr txBox="1"/>
          <p:nvPr/>
        </p:nvSpPr>
        <p:spPr>
          <a:xfrm>
            <a:off x="472613" y="544816"/>
            <a:ext cx="11003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IBM SkillsBuild Decoding Data PBL Program 2025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C173E5-070C-0422-8E74-B320B52D55D5}"/>
              </a:ext>
            </a:extLst>
          </p:cNvPr>
          <p:cNvSpPr txBox="1"/>
          <p:nvPr/>
        </p:nvSpPr>
        <p:spPr>
          <a:xfrm>
            <a:off x="472613" y="1433298"/>
            <a:ext cx="61079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Project 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ADC015-B871-3D1D-0D35-0AE2D8E4E991}"/>
              </a:ext>
            </a:extLst>
          </p:cNvPr>
          <p:cNvSpPr txBox="1"/>
          <p:nvPr/>
        </p:nvSpPr>
        <p:spPr>
          <a:xfrm>
            <a:off x="1338208" y="3336102"/>
            <a:ext cx="950530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3596922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27071-49E1-F18D-CF04-5B96DBE5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DD1A52-9EF5-6101-1D21-01910E1CE247}"/>
              </a:ext>
            </a:extLst>
          </p:cNvPr>
          <p:cNvSpPr/>
          <p:nvPr/>
        </p:nvSpPr>
        <p:spPr>
          <a:xfrm>
            <a:off x="-10274" y="6431622"/>
            <a:ext cx="12202274" cy="42637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C90F7E-8E30-D564-0288-F11AD01D752D}"/>
              </a:ext>
            </a:extLst>
          </p:cNvPr>
          <p:cNvSpPr txBox="1"/>
          <p:nvPr/>
        </p:nvSpPr>
        <p:spPr>
          <a:xfrm>
            <a:off x="1060809" y="1412966"/>
            <a:ext cx="61079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Objective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27B75C-AEA4-D64A-2FD3-829403477FD0}"/>
              </a:ext>
            </a:extLst>
          </p:cNvPr>
          <p:cNvSpPr txBox="1"/>
          <p:nvPr/>
        </p:nvSpPr>
        <p:spPr>
          <a:xfrm>
            <a:off x="1060809" y="2070609"/>
            <a:ext cx="87612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students’ academic scores to derive meaningful performance insights.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patterns in student performance across gender, subjects, and test preparation status using data visualization and statistical analysis.</a:t>
            </a:r>
          </a:p>
        </p:txBody>
      </p:sp>
    </p:spTree>
    <p:extLst>
      <p:ext uri="{BB962C8B-B14F-4D97-AF65-F5344CB8AC3E}">
        <p14:creationId xmlns:p14="http://schemas.microsoft.com/office/powerpoint/2010/main" val="1393312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509D1-8418-29D0-70BF-A3298FEAA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7BF7E0-E360-C972-FFB7-6930803F65B3}"/>
              </a:ext>
            </a:extLst>
          </p:cNvPr>
          <p:cNvSpPr/>
          <p:nvPr/>
        </p:nvSpPr>
        <p:spPr>
          <a:xfrm>
            <a:off x="-10274" y="6431622"/>
            <a:ext cx="12202274" cy="42637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86150A-00AA-1BF3-3507-9301EEDC5252}"/>
              </a:ext>
            </a:extLst>
          </p:cNvPr>
          <p:cNvSpPr txBox="1"/>
          <p:nvPr/>
        </p:nvSpPr>
        <p:spPr>
          <a:xfrm>
            <a:off x="1040255" y="1135563"/>
            <a:ext cx="61079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4A6B69-74D8-2EBA-F501-1CB66634EA6D}"/>
              </a:ext>
            </a:extLst>
          </p:cNvPr>
          <p:cNvSpPr txBox="1"/>
          <p:nvPr/>
        </p:nvSpPr>
        <p:spPr>
          <a:xfrm>
            <a:off x="1040255" y="1866641"/>
            <a:ext cx="91722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limited visibility into academic performance gaps among students due to gender, preparation background, and socio-economic factors.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the Problem: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these gaps can help educational institutions take targeted actions to support underperforming groups.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SDGs: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4: Quality Education</a:t>
            </a:r>
          </a:p>
        </p:txBody>
      </p:sp>
    </p:spTree>
    <p:extLst>
      <p:ext uri="{BB962C8B-B14F-4D97-AF65-F5344CB8AC3E}">
        <p14:creationId xmlns:p14="http://schemas.microsoft.com/office/powerpoint/2010/main" val="3189134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68A51-8745-6D7F-80A9-55B93D38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EF758A-5C4B-D99A-31C1-4F0633084D4A}"/>
              </a:ext>
            </a:extLst>
          </p:cNvPr>
          <p:cNvSpPr/>
          <p:nvPr/>
        </p:nvSpPr>
        <p:spPr>
          <a:xfrm>
            <a:off x="-10274" y="6431622"/>
            <a:ext cx="12202274" cy="42637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3C9453-77FF-BB43-E968-5628A4E32548}"/>
              </a:ext>
            </a:extLst>
          </p:cNvPr>
          <p:cNvSpPr txBox="1"/>
          <p:nvPr/>
        </p:nvSpPr>
        <p:spPr>
          <a:xfrm>
            <a:off x="1029981" y="1228030"/>
            <a:ext cx="61079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D12C40-28A1-D503-AD51-E11051B901F8}"/>
              </a:ext>
            </a:extLst>
          </p:cNvPr>
          <p:cNvSpPr txBox="1"/>
          <p:nvPr/>
        </p:nvSpPr>
        <p:spPr>
          <a:xfrm>
            <a:off x="1029981" y="1886786"/>
            <a:ext cx="656261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 of Data: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(Students Performance Dataset)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1000+ rows with fields such as gender, parental education, test prep status, and subject-wise scores.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Methods: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Publicly available structured dataset from Kaggle.</a:t>
            </a:r>
          </a:p>
        </p:txBody>
      </p:sp>
    </p:spTree>
    <p:extLst>
      <p:ext uri="{BB962C8B-B14F-4D97-AF65-F5344CB8AC3E}">
        <p14:creationId xmlns:p14="http://schemas.microsoft.com/office/powerpoint/2010/main" val="2956406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CADE8-3E97-14C0-2B4F-FF8D27E8C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25B587-4537-F420-C436-7EE745478503}"/>
              </a:ext>
            </a:extLst>
          </p:cNvPr>
          <p:cNvSpPr/>
          <p:nvPr/>
        </p:nvSpPr>
        <p:spPr>
          <a:xfrm>
            <a:off x="-10274" y="6431622"/>
            <a:ext cx="12202274" cy="42637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C48E0-5911-DE65-199A-094B8B0D802F}"/>
              </a:ext>
            </a:extLst>
          </p:cNvPr>
          <p:cNvSpPr txBox="1"/>
          <p:nvPr/>
        </p:nvSpPr>
        <p:spPr>
          <a:xfrm>
            <a:off x="999162" y="1135563"/>
            <a:ext cx="61079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269BB3-1324-38C6-F31C-96926102A9E4}"/>
              </a:ext>
            </a:extLst>
          </p:cNvPr>
          <p:cNvSpPr txBox="1"/>
          <p:nvPr/>
        </p:nvSpPr>
        <p:spPr>
          <a:xfrm>
            <a:off x="999162" y="1809932"/>
            <a:ext cx="53194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Methods: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duplicates, standardized labels (e.g., capitalized “female” to “Female”).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missing values found.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Techniques: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average score column.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Renamed columns for clarity.</a:t>
            </a:r>
          </a:p>
        </p:txBody>
      </p:sp>
    </p:spTree>
    <p:extLst>
      <p:ext uri="{BB962C8B-B14F-4D97-AF65-F5344CB8AC3E}">
        <p14:creationId xmlns:p14="http://schemas.microsoft.com/office/powerpoint/2010/main" val="1465747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C41E6-601E-09CA-C2A8-02A0A6B8A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17CD46-EB7A-DC76-E8EF-CDFBF13BE4D0}"/>
              </a:ext>
            </a:extLst>
          </p:cNvPr>
          <p:cNvSpPr/>
          <p:nvPr/>
        </p:nvSpPr>
        <p:spPr>
          <a:xfrm>
            <a:off x="-10274" y="6431622"/>
            <a:ext cx="12202274" cy="42637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5211F-4B42-5807-C1DC-29225E80566F}"/>
              </a:ext>
            </a:extLst>
          </p:cNvPr>
          <p:cNvSpPr txBox="1"/>
          <p:nvPr/>
        </p:nvSpPr>
        <p:spPr>
          <a:xfrm>
            <a:off x="999162" y="1115014"/>
            <a:ext cx="61079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46A1F-9F78-3847-CA45-F73F677C3DF8}"/>
              </a:ext>
            </a:extLst>
          </p:cNvPr>
          <p:cNvSpPr txBox="1"/>
          <p:nvPr/>
        </p:nvSpPr>
        <p:spPr>
          <a:xfrm>
            <a:off x="999162" y="1835819"/>
            <a:ext cx="635713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Tools and Methods Used: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 for cleaning and statistics.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for dashboard and interactive visuals.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Females perform better in reading and writing.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preparation has a positive impact.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Derived: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with better support and preparation tend to perform higher.</a:t>
            </a:r>
          </a:p>
        </p:txBody>
      </p:sp>
    </p:spTree>
    <p:extLst>
      <p:ext uri="{BB962C8B-B14F-4D97-AF65-F5344CB8AC3E}">
        <p14:creationId xmlns:p14="http://schemas.microsoft.com/office/powerpoint/2010/main" val="2442438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D7B0B-FC8A-130E-0A7D-690E1A5BE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6F84F5-BFD7-8615-D802-0945B0E8AF20}"/>
              </a:ext>
            </a:extLst>
          </p:cNvPr>
          <p:cNvSpPr/>
          <p:nvPr/>
        </p:nvSpPr>
        <p:spPr>
          <a:xfrm>
            <a:off x="-10274" y="6431622"/>
            <a:ext cx="12202274" cy="42637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EC0D-D3F0-6674-C93D-B064FC54D6DC}"/>
              </a:ext>
            </a:extLst>
          </p:cNvPr>
          <p:cNvSpPr txBox="1"/>
          <p:nvPr/>
        </p:nvSpPr>
        <p:spPr>
          <a:xfrm>
            <a:off x="999162" y="1330770"/>
            <a:ext cx="61079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Development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7A7479-B686-2CBB-BB73-AAB385EEAC9E}"/>
              </a:ext>
            </a:extLst>
          </p:cNvPr>
          <p:cNvSpPr txBox="1"/>
          <p:nvPr/>
        </p:nvSpPr>
        <p:spPr>
          <a:xfrm>
            <a:off x="999162" y="2090172"/>
            <a:ext cx="863799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Formulated Hypothesis: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who complete the test preparation course have higher average scores.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Rationale Behind the Hypothesis: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analysis showed better scores among prepared students.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for Testing the Hypothesis: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group averages using Excel and Power BI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3686265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CCEE8-C434-CEBF-78D3-BC1603B8E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730987-80A5-2C1F-FA6B-7BE2438E17D0}"/>
              </a:ext>
            </a:extLst>
          </p:cNvPr>
          <p:cNvSpPr/>
          <p:nvPr/>
        </p:nvSpPr>
        <p:spPr>
          <a:xfrm>
            <a:off x="-10274" y="6431622"/>
            <a:ext cx="12202274" cy="42637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04EDFC-9C3A-7F77-36A5-38DCBA63A8C8}"/>
              </a:ext>
            </a:extLst>
          </p:cNvPr>
          <p:cNvSpPr txBox="1"/>
          <p:nvPr/>
        </p:nvSpPr>
        <p:spPr>
          <a:xfrm>
            <a:off x="1009436" y="1279401"/>
            <a:ext cx="61079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6094E0-28B4-D9D8-10EB-96871A9C8ED5}"/>
              </a:ext>
            </a:extLst>
          </p:cNvPr>
          <p:cNvSpPr txBox="1"/>
          <p:nvPr/>
        </p:nvSpPr>
        <p:spPr>
          <a:xfrm>
            <a:off x="1009436" y="1928287"/>
            <a:ext cx="78468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interactive dashboards for educators to monitor student performance trends by gender, subject, and preparation.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Plan: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data regularly.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dashboard refresh.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reports with educators.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with SDGs: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SDG 4: Quality Education</a:t>
            </a:r>
          </a:p>
        </p:txBody>
      </p:sp>
    </p:spTree>
    <p:extLst>
      <p:ext uri="{BB962C8B-B14F-4D97-AF65-F5344CB8AC3E}">
        <p14:creationId xmlns:p14="http://schemas.microsoft.com/office/powerpoint/2010/main" val="4162600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99BF4-110A-A099-D84F-92B42E20D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2BAD1A-5B01-F2ED-F015-776592FFA646}"/>
              </a:ext>
            </a:extLst>
          </p:cNvPr>
          <p:cNvSpPr/>
          <p:nvPr/>
        </p:nvSpPr>
        <p:spPr>
          <a:xfrm>
            <a:off x="-10274" y="6431622"/>
            <a:ext cx="12202274" cy="42637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1A80DF-1053-8C88-48AC-A2256F23A23F}"/>
              </a:ext>
            </a:extLst>
          </p:cNvPr>
          <p:cNvSpPr txBox="1"/>
          <p:nvPr/>
        </p:nvSpPr>
        <p:spPr>
          <a:xfrm>
            <a:off x="1112178" y="1186935"/>
            <a:ext cx="61079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355B1-EBFF-450E-90C1-B8FA3B3A43B9}"/>
              </a:ext>
            </a:extLst>
          </p:cNvPr>
          <p:cNvSpPr txBox="1"/>
          <p:nvPr/>
        </p:nvSpPr>
        <p:spPr>
          <a:xfrm>
            <a:off x="1112178" y="1794724"/>
            <a:ext cx="61079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Prominent Features of the Dashboard: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charts for subject-wise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and Class filters using slicers.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Average, max, and min scores are displayed via card visuals.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 Map: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Home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Comparison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 Filters</a:t>
            </a:r>
          </a:p>
        </p:txBody>
      </p:sp>
    </p:spTree>
    <p:extLst>
      <p:ext uri="{BB962C8B-B14F-4D97-AF65-F5344CB8AC3E}">
        <p14:creationId xmlns:p14="http://schemas.microsoft.com/office/powerpoint/2010/main" val="1335989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36E28-6DB4-F122-D0F3-28C9A8EF7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940C03-38C7-1268-F3BA-178E493E3FF5}"/>
              </a:ext>
            </a:extLst>
          </p:cNvPr>
          <p:cNvSpPr/>
          <p:nvPr/>
        </p:nvSpPr>
        <p:spPr>
          <a:xfrm>
            <a:off x="-10274" y="6431622"/>
            <a:ext cx="12202274" cy="42637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8519E8-6905-B3B5-7666-92D051B3B5CA}"/>
              </a:ext>
            </a:extLst>
          </p:cNvPr>
          <p:cNvSpPr txBox="1"/>
          <p:nvPr/>
        </p:nvSpPr>
        <p:spPr>
          <a:xfrm>
            <a:off x="916970" y="520632"/>
            <a:ext cx="61079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413668-6B2E-5C24-B77D-FB184C7E173C}"/>
              </a:ext>
            </a:extLst>
          </p:cNvPr>
          <p:cNvSpPr txBox="1"/>
          <p:nvPr/>
        </p:nvSpPr>
        <p:spPr>
          <a:xfrm>
            <a:off x="916970" y="1351508"/>
            <a:ext cx="331598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Proposed Solution: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educators identify struggling groups.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data-driven interventions.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live academic data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predictive analytics.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5A200C-E940-2177-F8CF-0E865E7DB7F5}"/>
              </a:ext>
            </a:extLst>
          </p:cNvPr>
          <p:cNvSpPr txBox="1"/>
          <p:nvPr/>
        </p:nvSpPr>
        <p:spPr>
          <a:xfrm>
            <a:off x="4394771" y="933396"/>
            <a:ext cx="41070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 of Dashboard: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6EFD99-ADB5-50FB-A560-D2D7818B8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765" y="1456616"/>
            <a:ext cx="7568460" cy="423526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14193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FC66C-6571-BA03-D106-96407DF5E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CB48F2-AA63-7370-1EF5-2311FA0DA2A0}"/>
              </a:ext>
            </a:extLst>
          </p:cNvPr>
          <p:cNvSpPr/>
          <p:nvPr/>
        </p:nvSpPr>
        <p:spPr>
          <a:xfrm>
            <a:off x="-10274" y="6431622"/>
            <a:ext cx="12202274" cy="42637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B751A-6CD7-0FF4-839E-E6AACBDF5BCC}"/>
              </a:ext>
            </a:extLst>
          </p:cNvPr>
          <p:cNvSpPr txBox="1"/>
          <p:nvPr/>
        </p:nvSpPr>
        <p:spPr>
          <a:xfrm>
            <a:off x="1153274" y="1320497"/>
            <a:ext cx="61079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BE625C-DF62-F16B-61FB-6EEB7AC32D70}"/>
              </a:ext>
            </a:extLst>
          </p:cNvPr>
          <p:cNvSpPr txBox="1"/>
          <p:nvPr/>
        </p:nvSpPr>
        <p:spPr>
          <a:xfrm>
            <a:off x="1150705" y="1979254"/>
            <a:ext cx="610798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Software Used: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References: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Student Performance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Sustainable Development Goals (SDGs)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SkillsBuild Program Materials</a:t>
            </a:r>
          </a:p>
        </p:txBody>
      </p:sp>
    </p:spTree>
    <p:extLst>
      <p:ext uri="{BB962C8B-B14F-4D97-AF65-F5344CB8AC3E}">
        <p14:creationId xmlns:p14="http://schemas.microsoft.com/office/powerpoint/2010/main" val="1429196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5000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467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kumar</dc:creator>
  <cp:lastModifiedBy>Aryan kumar</cp:lastModifiedBy>
  <cp:revision>14</cp:revision>
  <dcterms:created xsi:type="dcterms:W3CDTF">2025-07-28T19:19:33Z</dcterms:created>
  <dcterms:modified xsi:type="dcterms:W3CDTF">2025-12-11T04:26:12Z</dcterms:modified>
</cp:coreProperties>
</file>